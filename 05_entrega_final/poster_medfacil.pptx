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32399288" cy="43200638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lide d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430000" y="7070040"/>
            <a:ext cx="27538920" cy="1503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3240000">
              <a:lnSpc>
                <a:spcPct val="90000"/>
              </a:lnSpc>
              <a:buNone/>
              <a:defRPr lang="pt-BR" sz="2126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3240000">
              <a:lnSpc>
                <a:spcPct val="90000"/>
              </a:lnSpc>
              <a:buNone/>
            </a:pPr>
            <a:r>
              <a:rPr lang="pt-BR" sz="2126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en-US" sz="2126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2227320" y="40040640"/>
            <a:ext cx="728964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4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10732320" y="40040640"/>
            <a:ext cx="1093428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22881960" y="40040640"/>
            <a:ext cx="728964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0EF7815-05CD-4E2E-AF15-4ED2E6265217}" type="slidenum">
              <a: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4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e Texto Vertic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227320" y="2300040"/>
            <a:ext cx="27943920" cy="834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3240000">
              <a:lnSpc>
                <a:spcPct val="90000"/>
              </a:lnSpc>
              <a:buNone/>
              <a:defRPr lang="pt-BR" sz="15589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3240000">
              <a:lnSpc>
                <a:spcPct val="90000"/>
              </a:lnSpc>
              <a:buNone/>
            </a:pPr>
            <a:r>
              <a:rPr lang="pt-BR" sz="15589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en-US" sz="15589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2227320" y="11500200"/>
            <a:ext cx="27943920" cy="27410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3240000">
              <a:lnSpc>
                <a:spcPct val="90000"/>
              </a:lnSpc>
              <a:spcBef>
                <a:spcPts val="3543"/>
              </a:spcBef>
              <a:buClr>
                <a:srgbClr val="000000"/>
              </a:buClr>
              <a:buFont typeface="Arial"/>
              <a:buChar char="•"/>
              <a:defRPr lang="pt-BR" sz="992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85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70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810000" indent="-810000" algn="l" defTabSz="3240000">
              <a:lnSpc>
                <a:spcPct val="90000"/>
              </a:lnSpc>
              <a:spcBef>
                <a:spcPts val="3543"/>
              </a:spcBef>
              <a:buClr>
                <a:srgbClr val="000000"/>
              </a:buClr>
              <a:buFont typeface="Arial"/>
              <a:buChar char="•"/>
            </a:pPr>
            <a:r>
              <a:rPr lang="pt-BR" sz="992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en-US" sz="992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430000" lvl="1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8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en-US" sz="8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050000" lvl="2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70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en-US" sz="70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5670000" lvl="3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en-US" sz="63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7289640" lvl="4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en-US" sz="63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2227320" y="40040640"/>
            <a:ext cx="728964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4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10732320" y="40040640"/>
            <a:ext cx="1093428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22881960" y="40040640"/>
            <a:ext cx="728964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3F372A6-1D1D-40CF-9DF6-667A427E9D87}" type="slidenum">
              <a: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4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exto e Título Vertic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23185800" y="2300040"/>
            <a:ext cx="6985800" cy="36610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3240000">
              <a:lnSpc>
                <a:spcPct val="90000"/>
              </a:lnSpc>
              <a:buNone/>
              <a:defRPr lang="pt-BR" sz="15589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3240000">
              <a:lnSpc>
                <a:spcPct val="90000"/>
              </a:lnSpc>
              <a:buNone/>
            </a:pPr>
            <a:r>
              <a:rPr lang="pt-BR" sz="15589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en-US" sz="15589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2227320" y="2300040"/>
            <a:ext cx="20552760" cy="36610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3240000">
              <a:lnSpc>
                <a:spcPct val="90000"/>
              </a:lnSpc>
              <a:spcBef>
                <a:spcPts val="3543"/>
              </a:spcBef>
              <a:buClr>
                <a:srgbClr val="000000"/>
              </a:buClr>
              <a:buFont typeface="Arial"/>
              <a:buChar char="•"/>
              <a:defRPr lang="pt-BR" sz="992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85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70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810000" indent="-810000" algn="l" defTabSz="3240000">
              <a:lnSpc>
                <a:spcPct val="90000"/>
              </a:lnSpc>
              <a:spcBef>
                <a:spcPts val="3543"/>
              </a:spcBef>
              <a:buClr>
                <a:srgbClr val="000000"/>
              </a:buClr>
              <a:buFont typeface="Arial"/>
              <a:buChar char="•"/>
            </a:pPr>
            <a:r>
              <a:rPr lang="pt-BR" sz="992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en-US" sz="992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430000" lvl="1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8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en-US" sz="8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050000" lvl="2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70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en-US" sz="70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5670000" lvl="3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en-US" sz="63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7289640" lvl="4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en-US" sz="63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2227320" y="40040640"/>
            <a:ext cx="728964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4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10732320" y="40040640"/>
            <a:ext cx="1093428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22881960" y="40040640"/>
            <a:ext cx="728964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3E6D639-E265-47A4-A69D-40BF43DEE5D7}" type="slidenum">
              <a: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4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e 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2227320" y="2300040"/>
            <a:ext cx="27943920" cy="834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3240000">
              <a:lnSpc>
                <a:spcPct val="90000"/>
              </a:lnSpc>
              <a:buNone/>
              <a:defRPr lang="pt-BR" sz="15589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3240000">
              <a:lnSpc>
                <a:spcPct val="90000"/>
              </a:lnSpc>
              <a:buNone/>
            </a:pPr>
            <a:r>
              <a:rPr lang="pt-BR" sz="15589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en-US" sz="15589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2227320" y="11500200"/>
            <a:ext cx="27943920" cy="27410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3240000">
              <a:lnSpc>
                <a:spcPct val="90000"/>
              </a:lnSpc>
              <a:spcBef>
                <a:spcPts val="3543"/>
              </a:spcBef>
              <a:buClr>
                <a:srgbClr val="000000"/>
              </a:buClr>
              <a:buFont typeface="Arial"/>
              <a:buChar char="•"/>
              <a:defRPr lang="pt-BR" sz="992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85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70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810000" indent="-810000" algn="l" defTabSz="3240000">
              <a:lnSpc>
                <a:spcPct val="90000"/>
              </a:lnSpc>
              <a:spcBef>
                <a:spcPts val="3543"/>
              </a:spcBef>
              <a:buClr>
                <a:srgbClr val="000000"/>
              </a:buClr>
              <a:buFont typeface="Arial"/>
              <a:buChar char="•"/>
            </a:pPr>
            <a:r>
              <a:rPr lang="pt-BR" sz="992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en-US" sz="992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430000" lvl="1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8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en-US" sz="8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050000" lvl="2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70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en-US" sz="70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5670000" lvl="3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en-US" sz="63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7289640" lvl="4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en-US" sz="63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2227320" y="40040640"/>
            <a:ext cx="728964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4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10732320" y="40040640"/>
            <a:ext cx="1093428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22881960" y="40040640"/>
            <a:ext cx="728964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B561741-CC68-4C8E-BB73-DE77BC595927}" type="slidenum">
              <a: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4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beçalho da Seçã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2210400" y="10770120"/>
            <a:ext cx="27943920" cy="1796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3240000">
              <a:lnSpc>
                <a:spcPct val="90000"/>
              </a:lnSpc>
              <a:buNone/>
              <a:defRPr lang="pt-BR" sz="2126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3240000">
              <a:lnSpc>
                <a:spcPct val="90000"/>
              </a:lnSpc>
              <a:buNone/>
            </a:pPr>
            <a:r>
              <a:rPr lang="pt-BR" sz="2126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en-US" sz="2126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2210400" y="28910520"/>
            <a:ext cx="27943920" cy="944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3240000">
              <a:lnSpc>
                <a:spcPct val="90000"/>
              </a:lnSpc>
              <a:spcBef>
                <a:spcPts val="3543"/>
              </a:spcBef>
              <a:buNone/>
              <a:tabLst>
                <a:tab pos="0" algn="l"/>
              </a:tabLst>
              <a:defRPr lang="pt-BR" sz="85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3240000">
              <a:lnSpc>
                <a:spcPct val="90000"/>
              </a:lnSpc>
              <a:spcBef>
                <a:spcPts val="3543"/>
              </a:spcBef>
              <a:buNone/>
              <a:tabLst>
                <a:tab pos="0" algn="l"/>
              </a:tabLst>
            </a:pPr>
            <a:r>
              <a:rPr lang="pt-BR" sz="85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en-US" sz="85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2227320" y="40040640"/>
            <a:ext cx="728964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4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10732320" y="40040640"/>
            <a:ext cx="1093428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22881960" y="40040640"/>
            <a:ext cx="728964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9AD9715-0943-4C3B-A1AB-2C416A3C8E81}" type="slidenum">
              <a: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4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uas Partes de 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2227320" y="2300040"/>
            <a:ext cx="27943920" cy="834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3240000">
              <a:lnSpc>
                <a:spcPct val="90000"/>
              </a:lnSpc>
              <a:buNone/>
              <a:defRPr lang="pt-BR" sz="15589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3240000">
              <a:lnSpc>
                <a:spcPct val="90000"/>
              </a:lnSpc>
              <a:buNone/>
            </a:pPr>
            <a:r>
              <a:rPr lang="pt-BR" sz="15589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en-US" sz="15589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2227320" y="11500200"/>
            <a:ext cx="13769280" cy="27410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3240000">
              <a:lnSpc>
                <a:spcPct val="90000"/>
              </a:lnSpc>
              <a:spcBef>
                <a:spcPts val="3543"/>
              </a:spcBef>
              <a:buClr>
                <a:srgbClr val="000000"/>
              </a:buClr>
              <a:buFont typeface="Arial"/>
              <a:buChar char="•"/>
              <a:defRPr lang="pt-BR" sz="992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85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70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810000" indent="-810000" algn="l" defTabSz="3240000">
              <a:lnSpc>
                <a:spcPct val="90000"/>
              </a:lnSpc>
              <a:spcBef>
                <a:spcPts val="3543"/>
              </a:spcBef>
              <a:buClr>
                <a:srgbClr val="000000"/>
              </a:buClr>
              <a:buFont typeface="Arial"/>
              <a:buChar char="•"/>
            </a:pPr>
            <a:r>
              <a:rPr lang="pt-BR" sz="992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en-US" sz="992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430000" lvl="1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8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en-US" sz="8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050000" lvl="2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70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en-US" sz="70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5670000" lvl="3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en-US" sz="63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7289640" lvl="4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en-US" sz="63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16402320" y="11500200"/>
            <a:ext cx="13769280" cy="27410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3240000">
              <a:lnSpc>
                <a:spcPct val="90000"/>
              </a:lnSpc>
              <a:spcBef>
                <a:spcPts val="3543"/>
              </a:spcBef>
              <a:buClr>
                <a:srgbClr val="000000"/>
              </a:buClr>
              <a:buFont typeface="Arial"/>
              <a:buChar char="•"/>
              <a:defRPr lang="pt-BR" sz="992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85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70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810000" indent="-810000" algn="l" defTabSz="3240000">
              <a:lnSpc>
                <a:spcPct val="90000"/>
              </a:lnSpc>
              <a:spcBef>
                <a:spcPts val="3543"/>
              </a:spcBef>
              <a:buClr>
                <a:srgbClr val="000000"/>
              </a:buClr>
              <a:buFont typeface="Arial"/>
              <a:buChar char="•"/>
            </a:pPr>
            <a:r>
              <a:rPr lang="pt-BR" sz="992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en-US" sz="992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430000" lvl="1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8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en-US" sz="8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050000" lvl="2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70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en-US" sz="70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5670000" lvl="3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en-US" sz="63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7289640" lvl="4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en-US" sz="63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2227320" y="40040640"/>
            <a:ext cx="728964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4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10732320" y="40040640"/>
            <a:ext cx="1093428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22881960" y="40040640"/>
            <a:ext cx="728964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9C080C6-FBAF-4700-AC68-E0A435AE8088}" type="slidenum">
              <a: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4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çã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2231640" y="2300040"/>
            <a:ext cx="27943920" cy="834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3240000">
              <a:lnSpc>
                <a:spcPct val="90000"/>
              </a:lnSpc>
              <a:buNone/>
              <a:defRPr lang="pt-BR" sz="15589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3240000">
              <a:lnSpc>
                <a:spcPct val="90000"/>
              </a:lnSpc>
              <a:buNone/>
            </a:pPr>
            <a:r>
              <a:rPr lang="pt-BR" sz="15589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en-US" sz="15589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2231640" y="10590120"/>
            <a:ext cx="13705920" cy="518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3240000">
              <a:lnSpc>
                <a:spcPct val="90000"/>
              </a:lnSpc>
              <a:spcBef>
                <a:spcPts val="3543"/>
              </a:spcBef>
              <a:buNone/>
              <a:tabLst>
                <a:tab pos="0" algn="l"/>
              </a:tabLst>
              <a:defRPr lang="pt-BR" sz="85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3240000">
              <a:lnSpc>
                <a:spcPct val="90000"/>
              </a:lnSpc>
              <a:spcBef>
                <a:spcPts val="3543"/>
              </a:spcBef>
              <a:buNone/>
              <a:tabLst>
                <a:tab pos="0" algn="l"/>
              </a:tabLst>
            </a:pPr>
            <a:r>
              <a:rPr lang="pt-BR" sz="85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en-US" sz="8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2231640" y="15780240"/>
            <a:ext cx="13705920" cy="2320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3240000">
              <a:lnSpc>
                <a:spcPct val="90000"/>
              </a:lnSpc>
              <a:spcBef>
                <a:spcPts val="3543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992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85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70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810000" indent="-810000" algn="l" defTabSz="3240000">
              <a:lnSpc>
                <a:spcPct val="90000"/>
              </a:lnSpc>
              <a:spcBef>
                <a:spcPts val="3543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992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en-US" sz="992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430000" lvl="1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8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en-US" sz="8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050000" lvl="2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70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en-US" sz="70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5670000" lvl="3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en-US" sz="63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7289640" lvl="4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en-US" sz="63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16402320" y="10590120"/>
            <a:ext cx="13773600" cy="518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3240000">
              <a:lnSpc>
                <a:spcPct val="90000"/>
              </a:lnSpc>
              <a:spcBef>
                <a:spcPts val="3543"/>
              </a:spcBef>
              <a:buNone/>
              <a:tabLst>
                <a:tab pos="0" algn="l"/>
              </a:tabLst>
              <a:defRPr lang="pt-BR" sz="85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3240000">
              <a:lnSpc>
                <a:spcPct val="90000"/>
              </a:lnSpc>
              <a:spcBef>
                <a:spcPts val="3543"/>
              </a:spcBef>
              <a:buNone/>
              <a:tabLst>
                <a:tab pos="0" algn="l"/>
              </a:tabLst>
            </a:pPr>
            <a:r>
              <a:rPr lang="pt-BR" sz="85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en-US" sz="8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16402320" y="15780240"/>
            <a:ext cx="13773600" cy="2320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3240000">
              <a:lnSpc>
                <a:spcPct val="90000"/>
              </a:lnSpc>
              <a:spcBef>
                <a:spcPts val="3543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992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85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70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810000" indent="-810000" algn="l" defTabSz="3240000">
              <a:lnSpc>
                <a:spcPct val="90000"/>
              </a:lnSpc>
              <a:spcBef>
                <a:spcPts val="3543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992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en-US" sz="992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430000" lvl="1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8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en-US" sz="8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050000" lvl="2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70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en-US" sz="70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5670000" lvl="3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en-US" sz="63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7289640" lvl="4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63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en-US" sz="63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2227320" y="40040640"/>
            <a:ext cx="728964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4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10732320" y="40040640"/>
            <a:ext cx="1093428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22881960" y="40040640"/>
            <a:ext cx="728964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2FBAF82-C7E3-4C48-8109-200DCC794EA6}" type="slidenum">
              <a: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4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ment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2227320" y="2300040"/>
            <a:ext cx="27943920" cy="834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3240000">
              <a:lnSpc>
                <a:spcPct val="90000"/>
              </a:lnSpc>
              <a:buNone/>
              <a:defRPr lang="pt-BR" sz="15589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3240000">
              <a:lnSpc>
                <a:spcPct val="90000"/>
              </a:lnSpc>
              <a:buNone/>
            </a:pPr>
            <a:r>
              <a:rPr lang="pt-BR" sz="15589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en-US" sz="15589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2227320" y="40040640"/>
            <a:ext cx="728964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4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10732320" y="40040640"/>
            <a:ext cx="1093428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22881960" y="40040640"/>
            <a:ext cx="728964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8110C62-6282-42E4-8B26-AE04D18E7615}" type="slidenum">
              <a: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4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m Br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2227320" y="40040640"/>
            <a:ext cx="728964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4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10732320" y="40040640"/>
            <a:ext cx="1093428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22881960" y="40040640"/>
            <a:ext cx="728964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0A37A3-4033-4F7B-ADEB-82EBB7489FB3}" type="slidenum">
              <a: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4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údo com Le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2231640" y="2880000"/>
            <a:ext cx="10449360" cy="1007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3240000">
              <a:lnSpc>
                <a:spcPct val="90000"/>
              </a:lnSpc>
              <a:buNone/>
              <a:defRPr lang="pt-BR" sz="1134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3240000">
              <a:lnSpc>
                <a:spcPct val="90000"/>
              </a:lnSpc>
              <a:buNone/>
            </a:pPr>
            <a:r>
              <a:rPr lang="pt-BR" sz="1134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en-US" sz="1134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13773960" y="6220080"/>
            <a:ext cx="16401960" cy="3070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3240000">
              <a:lnSpc>
                <a:spcPct val="90000"/>
              </a:lnSpc>
              <a:spcBef>
                <a:spcPts val="3543"/>
              </a:spcBef>
              <a:buClr>
                <a:srgbClr val="000000"/>
              </a:buClr>
              <a:buFont typeface="Arial"/>
              <a:buChar char="•"/>
              <a:defRPr lang="pt-BR" sz="1134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992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85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70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  <a:defRPr lang="pt-BR" sz="708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810000" indent="-810000" algn="l" defTabSz="3240000">
              <a:lnSpc>
                <a:spcPct val="90000"/>
              </a:lnSpc>
              <a:spcBef>
                <a:spcPts val="3543"/>
              </a:spcBef>
              <a:buClr>
                <a:srgbClr val="000000"/>
              </a:buClr>
              <a:buFont typeface="Arial"/>
              <a:buChar char="•"/>
            </a:pPr>
            <a:r>
              <a:rPr lang="pt-BR" sz="1134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en-US" sz="1134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430000" lvl="1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992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en-US" sz="992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050000" lvl="2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8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en-US" sz="8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5670000" lvl="3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70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en-US" sz="70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7289640" lvl="4" indent="-810000" algn="l" defTabSz="3240000">
              <a:lnSpc>
                <a:spcPct val="90000"/>
              </a:lnSpc>
              <a:spcBef>
                <a:spcPts val="1772"/>
              </a:spcBef>
              <a:buClr>
                <a:srgbClr val="000000"/>
              </a:buClr>
              <a:buFont typeface="Arial"/>
              <a:buChar char="•"/>
            </a:pPr>
            <a:r>
              <a:rPr lang="pt-BR" sz="708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en-US" sz="708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2231640" y="12960360"/>
            <a:ext cx="10449360" cy="2400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3240000">
              <a:lnSpc>
                <a:spcPct val="90000"/>
              </a:lnSpc>
              <a:spcBef>
                <a:spcPts val="3543"/>
              </a:spcBef>
              <a:buNone/>
              <a:tabLst>
                <a:tab pos="0" algn="l"/>
              </a:tabLst>
              <a:defRPr lang="pt-BR" sz="567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3240000">
              <a:lnSpc>
                <a:spcPct val="90000"/>
              </a:lnSpc>
              <a:spcBef>
                <a:spcPts val="3543"/>
              </a:spcBef>
              <a:buNone/>
              <a:tabLst>
                <a:tab pos="0" algn="l"/>
              </a:tabLst>
            </a:pPr>
            <a:r>
              <a:rPr lang="pt-BR" sz="567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en-US" sz="567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2227320" y="40040640"/>
            <a:ext cx="728964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4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10732320" y="40040640"/>
            <a:ext cx="1093428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22881960" y="40040640"/>
            <a:ext cx="728964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C8CB048-0C51-49A6-A9D2-5D1B3F00D5B3}" type="slidenum">
              <a: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4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m com Le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2231640" y="2880000"/>
            <a:ext cx="10449360" cy="1007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3240000">
              <a:lnSpc>
                <a:spcPct val="90000"/>
              </a:lnSpc>
              <a:buNone/>
              <a:defRPr lang="pt-BR" sz="1134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3240000">
              <a:lnSpc>
                <a:spcPct val="90000"/>
              </a:lnSpc>
              <a:buNone/>
            </a:pPr>
            <a:r>
              <a:rPr lang="pt-BR" sz="1134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en-US" sz="1134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3773960" y="6220080"/>
            <a:ext cx="16401960" cy="30700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pt-BR" sz="1134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134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no ícone para adicionar uma imagem</a:t>
            </a:r>
            <a:endParaRPr lang="en-US" sz="1134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2231640" y="12960360"/>
            <a:ext cx="10449360" cy="2400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3240000">
              <a:lnSpc>
                <a:spcPct val="90000"/>
              </a:lnSpc>
              <a:spcBef>
                <a:spcPts val="3543"/>
              </a:spcBef>
              <a:buNone/>
              <a:tabLst>
                <a:tab pos="0" algn="l"/>
              </a:tabLst>
              <a:defRPr lang="pt-BR" sz="567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3240000">
              <a:lnSpc>
                <a:spcPct val="90000"/>
              </a:lnSpc>
              <a:spcBef>
                <a:spcPts val="3543"/>
              </a:spcBef>
              <a:buNone/>
              <a:tabLst>
                <a:tab pos="0" algn="l"/>
              </a:tabLst>
            </a:pPr>
            <a:r>
              <a:rPr lang="pt-BR" sz="567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en-US" sz="567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2227320" y="40040640"/>
            <a:ext cx="728964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4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10732320" y="40040640"/>
            <a:ext cx="1093428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22881960" y="40040640"/>
            <a:ext cx="7289640" cy="229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A289721-D3C4-4A7A-A25D-33CC14864A03}" type="slidenum">
              <a:rPr lang="pt-BR" sz="425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42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http://github.com/robert-sampaio/medfacil" TargetMode="External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tângulo 6"/>
          <p:cNvSpPr/>
          <p:nvPr/>
        </p:nvSpPr>
        <p:spPr>
          <a:xfrm>
            <a:off x="8120160" y="847800"/>
            <a:ext cx="23327280" cy="355392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60" name="Imagem 4" descr="Texto, Logotipo  Descrição gerada automaticamente"/>
          <p:cNvPicPr/>
          <p:nvPr/>
        </p:nvPicPr>
        <p:blipFill>
          <a:blip r:embed="rId1"/>
          <a:stretch/>
        </p:blipFill>
        <p:spPr>
          <a:xfrm>
            <a:off x="0" y="0"/>
            <a:ext cx="8600400" cy="4944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Text Box 2"/>
          <p:cNvSpPr/>
          <p:nvPr/>
        </p:nvSpPr>
        <p:spPr>
          <a:xfrm>
            <a:off x="6706080" y="157680"/>
            <a:ext cx="24929640" cy="465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6800" rIns="90000" bIns="46800" anchor="t">
            <a:spAutoFit/>
          </a:bodyPr>
          <a:p>
            <a:pPr algn="ctr" defTabSz="457200">
              <a:lnSpc>
                <a:spcPct val="100000"/>
              </a:lnSpc>
              <a:spcBef>
                <a:spcPts val="2625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  <a:tab pos="13926960" algn="l"/>
                <a:tab pos="14376240" algn="l"/>
                <a:tab pos="14825520" algn="l"/>
                <a:tab pos="15274800" algn="l"/>
                <a:tab pos="15724080" algn="l"/>
                <a:tab pos="16173360" algn="l"/>
                <a:tab pos="16622640" algn="l"/>
                <a:tab pos="17071920" algn="l"/>
                <a:tab pos="17521200" algn="l"/>
                <a:tab pos="17970480" algn="l"/>
                <a:tab pos="18419760" algn="l"/>
                <a:tab pos="18869040" algn="l"/>
              </a:tabLst>
            </a:pPr>
            <a:endParaRPr lang="pt-BR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Bef>
                <a:spcPts val="2625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  <a:tab pos="13926960" algn="l"/>
                <a:tab pos="14376240" algn="l"/>
                <a:tab pos="14825520" algn="l"/>
                <a:tab pos="15274800" algn="l"/>
                <a:tab pos="15724080" algn="l"/>
                <a:tab pos="16173360" algn="l"/>
                <a:tab pos="16622640" algn="l"/>
                <a:tab pos="17071920" algn="l"/>
                <a:tab pos="17521200" algn="l"/>
                <a:tab pos="17970480" algn="l"/>
                <a:tab pos="18419760" algn="l"/>
                <a:tab pos="18869040" algn="l"/>
              </a:tabLst>
            </a:pPr>
            <a:r>
              <a:rPr lang="pt-BR" sz="4200" b="1" u="none" strike="noStrike">
                <a:solidFill>
                  <a:schemeClr val="lt1"/>
                </a:solidFill>
                <a:effectLst/>
                <a:uFillTx/>
                <a:latin typeface="Arial"/>
                <a:ea typeface="Microsoft YaHei"/>
              </a:rPr>
              <a:t>PROJETO DE EXTENSÃO</a:t>
            </a:r>
            <a:endParaRPr lang="pt-BR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Bef>
                <a:spcPts val="2625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  <a:tab pos="13926960" algn="l"/>
                <a:tab pos="14376240" algn="l"/>
                <a:tab pos="14825520" algn="l"/>
                <a:tab pos="15274800" algn="l"/>
                <a:tab pos="15724080" algn="l"/>
                <a:tab pos="16173360" algn="l"/>
                <a:tab pos="16622640" algn="l"/>
                <a:tab pos="17071920" algn="l"/>
                <a:tab pos="17521200" algn="l"/>
                <a:tab pos="17970480" algn="l"/>
                <a:tab pos="18419760" algn="l"/>
                <a:tab pos="18869040" algn="l"/>
              </a:tabLst>
            </a:pPr>
            <a:endParaRPr lang="pt-BR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Bef>
                <a:spcPts val="2625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  <a:tab pos="13926960" algn="l"/>
                <a:tab pos="14376240" algn="l"/>
                <a:tab pos="14825520" algn="l"/>
                <a:tab pos="15274800" algn="l"/>
                <a:tab pos="15724080" algn="l"/>
                <a:tab pos="16173360" algn="l"/>
                <a:tab pos="16622640" algn="l"/>
                <a:tab pos="17071920" algn="l"/>
                <a:tab pos="17521200" algn="l"/>
                <a:tab pos="17970480" algn="l"/>
                <a:tab pos="18419760" algn="l"/>
                <a:tab pos="18869040" algn="l"/>
              </a:tabLst>
            </a:pPr>
            <a:r>
              <a:rPr lang="pt-BR" sz="4200" b="1" u="none" strike="noStrike">
                <a:solidFill>
                  <a:schemeClr val="lt1"/>
                </a:solidFill>
                <a:effectLst/>
                <a:uFillTx/>
                <a:latin typeface="Arial"/>
                <a:ea typeface="Microsoft YaHei"/>
              </a:rPr>
              <a:t>Robert França de Queiroz Sampaio – RA 2222201445 – Ciência da Computação</a:t>
            </a:r>
            <a:endParaRPr lang="pt-BR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spcBef>
                <a:spcPts val="2625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  <a:tab pos="13926960" algn="l"/>
                <a:tab pos="14376240" algn="l"/>
                <a:tab pos="14825520" algn="l"/>
                <a:tab pos="15274800" algn="l"/>
                <a:tab pos="15724080" algn="l"/>
                <a:tab pos="16173360" algn="l"/>
                <a:tab pos="16622640" algn="l"/>
                <a:tab pos="17071920" algn="l"/>
                <a:tab pos="17521200" algn="l"/>
                <a:tab pos="17970480" algn="l"/>
                <a:tab pos="18419760" algn="l"/>
                <a:tab pos="18869040" algn="l"/>
              </a:tabLst>
            </a:pPr>
            <a:endParaRPr lang="pt-BR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Box 4"/>
          <p:cNvSpPr/>
          <p:nvPr/>
        </p:nvSpPr>
        <p:spPr>
          <a:xfrm>
            <a:off x="1704240" y="42193080"/>
            <a:ext cx="27063360" cy="58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6800" rIns="90000" bIns="46800" anchor="t">
            <a:spAutoFit/>
          </a:bodyPr>
          <a:p>
            <a:pPr algn="ctr"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  <a:tab pos="13926960" algn="l"/>
                <a:tab pos="14376240" algn="l"/>
                <a:tab pos="14825520" algn="l"/>
                <a:tab pos="15274800" algn="l"/>
                <a:tab pos="15724080" algn="l"/>
                <a:tab pos="16173360" algn="l"/>
                <a:tab pos="16622640" algn="l"/>
                <a:tab pos="17071920" algn="l"/>
                <a:tab pos="17521200" algn="l"/>
                <a:tab pos="17970480" algn="l"/>
                <a:tab pos="18419760" algn="l"/>
                <a:tab pos="18869040" algn="l"/>
              </a:tabLst>
            </a:pPr>
            <a:r>
              <a:rPr lang="pt-BR" sz="3200" b="0" u="none" strike="noStrike" baseline="30000">
                <a:solidFill>
                  <a:srgbClr val="000000"/>
                </a:solidFill>
                <a:effectLst/>
                <a:uFillTx/>
                <a:latin typeface="Garamond"/>
                <a:ea typeface="Microsoft YaHei"/>
              </a:rPr>
              <a:t>São Paulo / 2026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Box 5"/>
          <p:cNvSpPr/>
          <p:nvPr/>
        </p:nvSpPr>
        <p:spPr>
          <a:xfrm>
            <a:off x="1343880" y="18095400"/>
            <a:ext cx="13840920" cy="129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6800" rIns="90000" bIns="46800" anchor="t">
            <a:spAutoFit/>
          </a:bodyPr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</a:tabLst>
            </a:pPr>
            <a:r>
              <a:rPr lang="pt-BR" sz="4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DIAGNÓSTICO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</a:tabLst>
            </a:pP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 MedFácil Clínicas opera unidades de pronto atendimento em São Paulo. O diagnóstico identificou três problemas críticos: (1) filas longas com tempo médio de espera de 58,9 minutos — acima do benchmark de 30 min para UPAs eficientes; (2) alocação manual de médicos por turno sem suporte analítico, gerando sobrecarga nos picos e ociosidade nos vales; e (3) ausência total de KPIs e dashboards gerenciais. A análise do dataset histórico de 55.500 atendimentos (2019–2024) revelou distribuição uniforme entre os três turnos (~33% cada) e entre as seis especialidades médicas, confirmando a oportunidade de otimização via Pesquisa Operacional.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</a:tabLst>
            </a:pP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</a:tabLst>
            </a:pP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Box 6"/>
          <p:cNvSpPr/>
          <p:nvPr/>
        </p:nvSpPr>
        <p:spPr>
          <a:xfrm>
            <a:off x="16955280" y="32924160"/>
            <a:ext cx="14491800" cy="466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6800" rIns="90000" bIns="46800" anchor="t">
            <a:spAutoFit/>
          </a:bodyPr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  <a:tab pos="13926960" algn="l"/>
                <a:tab pos="14376240" algn="l"/>
              </a:tabLst>
            </a:pPr>
            <a:r>
              <a:rPr lang="pt-BR" sz="4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DADOS DA EMPRESA PARCEIRA DO PROJETO 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  <a:tab pos="13926960" algn="l"/>
                <a:tab pos="14376240" algn="l"/>
              </a:tabLst>
            </a:pP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  <a:tab pos="13926960" algn="l"/>
                <a:tab pos="14376240" algn="l"/>
              </a:tabLst>
            </a:pPr>
            <a:r>
              <a:rPr lang="pt-BR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NOME DA EMPRESA: MedFácil Clínicas (empresa fictícia)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  <a:tab pos="13926960" algn="l"/>
                <a:tab pos="14376240" algn="l"/>
              </a:tabLst>
            </a:pPr>
            <a:r>
              <a:rPr lang="pt-BR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ENDEREÇO: São Paulo, SP – Campus Santo Amaro, Uninove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  <a:tab pos="13926960" algn="l"/>
                <a:tab pos="14376240" algn="l"/>
              </a:tabLst>
            </a:pPr>
            <a:r>
              <a:rPr lang="pt-BR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EMAIL: robertfranca@uni9.pro.br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  <a:tab pos="13926960" algn="l"/>
                <a:tab pos="14376240" algn="l"/>
              </a:tabLst>
            </a:pPr>
            <a:r>
              <a:rPr lang="pt-BR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SEGMENTO DA ATUAÇÃO: Saúde – Clínicas e Unidades de Pronto Atendimento (UPA)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  <a:tab pos="13926960" algn="l"/>
                <a:tab pos="14376240" algn="l"/>
              </a:tabLst>
            </a:pP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  <a:tab pos="13926960" algn="l"/>
                <a:tab pos="14376240" algn="l"/>
              </a:tabLst>
            </a:pP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Box 13"/>
          <p:cNvSpPr/>
          <p:nvPr/>
        </p:nvSpPr>
        <p:spPr>
          <a:xfrm>
            <a:off x="1343880" y="5835240"/>
            <a:ext cx="13840920" cy="129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6800" rIns="90000" bIns="46800" anchor="t">
            <a:spAutoFit/>
          </a:bodyPr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</a:tabLst>
            </a:pPr>
            <a:r>
              <a:rPr lang="pt-BR" sz="4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OBJETIVO DO PROJETO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</a:tabLst>
            </a:pP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Desenvolver um sistema computacional integrado, usando Python e IA, para otimizar a alocação de médicos por turno na MedFácil Clínicas. O sistema compreende: (1) pipeline ETL para extração, limpeza e transformação de 55.500 registros com anonimização LGPD via hash SHA-256; (2) Análise Exploratória de Dados com 3 KPIs e dashboard com 6 gráficos; (3) modelo de Programação Linear Inteira (PLI) com PuLP para minimização do custo de pessoal; e (4) documentação de Segurança da Informação com mapeamento LGPD, Matriz GUT e Política de Autenticação. O projeto integra quatro disciplinas: Análise de Dados, Pesquisa Operacional, Segurança da Informação e Gestão de Projetos.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</a:tabLst>
            </a:pP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</a:tabLst>
            </a:pP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Box 14"/>
          <p:cNvSpPr/>
          <p:nvPr/>
        </p:nvSpPr>
        <p:spPr>
          <a:xfrm>
            <a:off x="1394640" y="30195360"/>
            <a:ext cx="13840920" cy="61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6800" rIns="90000" bIns="46800" anchor="t">
            <a:spAutoFit/>
          </a:bodyPr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</a:tabLst>
            </a:pPr>
            <a:r>
              <a:rPr lang="pt-BR" sz="4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PROPOSTA DE MELHORIA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</a:tabLst>
            </a:pP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 modelo PLI determina a alocação ótima: 2 médicos de manhã, 2 à tarde e 1 à noite (vs. 3/3/2 na alocação manual). Resultado: custo diário de R$ 6.240 vs. R$ 10.080 — economia de 38,1% (R$ 3.840/dia). Projeção anual: R$ 1.401.600 de economia. O modelo é robusto: a mesma alocação otimizada cobre inclusive o dia de maior demanda do histórico (cenário Pico), sem escalonamento emergencial. Repositório completo: github.com/robert-sampaio/medfacil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</a:tabLst>
            </a:pP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Box 15"/>
          <p:cNvSpPr/>
          <p:nvPr/>
        </p:nvSpPr>
        <p:spPr>
          <a:xfrm>
            <a:off x="17020440" y="5633640"/>
            <a:ext cx="13840920" cy="551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6800" rIns="90000" bIns="46800" anchor="t">
            <a:spAutoFit/>
          </a:bodyPr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</a:tabLst>
            </a:pPr>
            <a:r>
              <a:rPr lang="pt-BR" sz="4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COMUNIDADE IMPACTADA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</a:tabLst>
            </a:pP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 projeto impacta diretamente pacientes, profissionais e gestores da MedFácil Clínicas. Para os pacientes, a redução do tempo de espera melhora a experiência e a qualidade do atendimento. Para os médicos, a alocação baseada em dados elimina sobrecarga em picos e ociosidade em vales, promovendo melhores condições de trabalho. Para a gestão, o dashboard com KPIs possibilita decisões estratégicas baseadas em dados. Indiretamente, o projeto demonstra que ferramentas open-source acessíveis (Python, PuLP, Pandas) geram impacto econômico e social relevante no contexto da saúde digital brasileira.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Box 16"/>
          <p:cNvSpPr/>
          <p:nvPr/>
        </p:nvSpPr>
        <p:spPr>
          <a:xfrm>
            <a:off x="16948800" y="20179800"/>
            <a:ext cx="13840920" cy="81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6800" rIns="90000" bIns="46800" anchor="t">
            <a:spAutoFit/>
          </a:bodyPr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</a:tabLst>
            </a:pPr>
            <a:r>
              <a:rPr lang="pt-BR" sz="4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RELATÓRIOS FINAL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</a:tabLst>
            </a:pP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Artefatos entregues: (1) Análise de Dados — pipeline ETL (01_etl.py), EDA (02_eda.ipynb) e dashboard com 3 KPIs e 6 gráficos (03_kpis_dashboard.py); (2) Pesquisa Operacional — modelo PLI (modelo_pli.py) com 3 cenários — economia anual de R$ 1.401.600; (3) Segurança da Informação — mapeamento LGPD (15 colunas classificadas), Matriz GUT (10 riscos) e Política de Autenticação; (4) Gestão de Projetos — Project Charter, EAP, Gantt e Matriz RACI. 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333080" algn="l"/>
                <a:tab pos="10782360" algn="l"/>
                <a:tab pos="11231640" algn="l"/>
                <a:tab pos="11680920" algn="l"/>
                <a:tab pos="12130200" algn="l"/>
                <a:tab pos="12579480" algn="l"/>
                <a:tab pos="13028760" algn="l"/>
                <a:tab pos="13478040" algn="l"/>
              </a:tabLst>
            </a:pP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Todos os artefatos disponíveis em: </a:t>
            </a:r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  <a:hlinkClick r:id="rId2"/>
              </a:rPr>
              <a:t>github.com/robert-sampaio/medfacil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Tema do 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</TotalTime>
  <Application>LibreOffice/26.2.3.2$Windows_X86_64 LibreOffice_project/70e089b17412e4cb7773e41413306b17a2328c34</Application>
  <AppVersion>15.0000</AppVersion>
  <Words>552</Words>
  <Paragraphs>30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2024-08-21T12:22:29Z</dcterms:created>
  <dc:creator>Adriano Miranda Vasconcellos de Jesus</dc:creator>
  <dc:description/>
  <dc:language>pt-BR</dc:language>
  <cp:lastModifiedBy/>
  <dcterms:modified xsi:type="dcterms:W3CDTF">2026-05-22T20:40:57Z</dcterms:modified>
  <cp:revision>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Personalizar</vt:lpwstr>
  </property>
  <property fmtid="{D5CDD505-2E9C-101B-9397-08002B2CF9AE}" pid="3" name="Slides">
    <vt:i4>1</vt:i4>
  </property>
</Properties>
</file>