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17" d="100"/>
          <a:sy n="17" d="100"/>
        </p:scale>
        <p:origin x="30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57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07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2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16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67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43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27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79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28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45538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652C-FA45-40A6-9A10-3C463D436116}" type="datetimeFigureOut">
              <a:rPr lang="pt-BR" smtClean="0"/>
              <a:t>21/08/2024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5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B26FF5E-B927-F5CF-8CD1-4ED38B0B57AB}"/>
              </a:ext>
            </a:extLst>
          </p:cNvPr>
          <p:cNvSpPr/>
          <p:nvPr/>
        </p:nvSpPr>
        <p:spPr>
          <a:xfrm>
            <a:off x="8120063" y="847657"/>
            <a:ext cx="23327520" cy="35544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Texto, Logotipo  Descrição gerada automaticamente">
            <a:extLst>
              <a:ext uri="{FF2B5EF4-FFF2-40B4-BE49-F238E27FC236}">
                <a16:creationId xmlns:a16="http://schemas.microsoft.com/office/drawing/2014/main" id="{2FE1DEB6-F4C6-1413-B43D-2C2AADC5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00860" cy="4945495"/>
          </a:xfrm>
          <a:prstGeom prst="rect">
            <a:avLst/>
          </a:prstGeom>
        </p:spPr>
      </p:pic>
      <p:sp>
        <p:nvSpPr>
          <p:cNvPr id="22" name="Text Box 2">
            <a:extLst>
              <a:ext uri="{FF2B5EF4-FFF2-40B4-BE49-F238E27FC236}">
                <a16:creationId xmlns:a16="http://schemas.microsoft.com/office/drawing/2014/main" id="{C20853C3-706B-73E8-8D62-31758612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6045" y="157551"/>
            <a:ext cx="24930100" cy="4659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/>
          </a:p>
          <a:p>
            <a:pPr algn="ctr">
              <a:spcBef>
                <a:spcPts val="2625"/>
              </a:spcBef>
              <a:buClrTx/>
              <a:buFontTx/>
              <a:buNone/>
            </a:pPr>
            <a:r>
              <a:rPr lang="pt-BR" altLang="pt-BR" sz="4200" b="1">
                <a:solidFill>
                  <a:schemeClr val="bg1"/>
                </a:solidFill>
              </a:rPr>
              <a:t xml:space="preserve">PROJETO </a:t>
            </a:r>
            <a:r>
              <a:rPr lang="pt-BR" altLang="pt-BR" sz="4200" b="1" dirty="0">
                <a:solidFill>
                  <a:schemeClr val="bg1"/>
                </a:solidFill>
              </a:rPr>
              <a:t>DE EXTENSÃO</a:t>
            </a:r>
          </a:p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>
              <a:solidFill>
                <a:schemeClr val="bg1"/>
              </a:solidFill>
            </a:endParaRPr>
          </a:p>
          <a:p>
            <a:pPr algn="ctr">
              <a:spcBef>
                <a:spcPts val="2625"/>
              </a:spcBef>
              <a:buClrTx/>
              <a:buFontTx/>
              <a:buNone/>
            </a:pPr>
            <a:r>
              <a:rPr lang="pt-BR" altLang="pt-BR" sz="4200" b="1" dirty="0">
                <a:solidFill>
                  <a:schemeClr val="bg1"/>
                </a:solidFill>
              </a:rPr>
              <a:t>Robert França de Queiroz Sampaio – RA 2222201445 – Ciência da Computação</a:t>
            </a:r>
          </a:p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/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04EA8491-46E9-CEFD-AF4C-F952C9AAB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182" y="42192969"/>
            <a:ext cx="270637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3200" baseline="30000" dirty="0">
                <a:latin typeface="Garamond" panose="02020404030301010803" pitchFamily="18" charset="0"/>
                <a:cs typeface="Times New Roman" panose="02020603050405020304" pitchFamily="18" charset="0"/>
              </a:rPr>
              <a:t>São Paulo / 2026</a:t>
            </a:r>
            <a:endParaRPr lang="pt-BR" altLang="pt-BR" sz="3200" dirty="0"/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F6A21990-4946-7179-FE27-68E8666CD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819" y="18095483"/>
            <a:ext cx="13841413" cy="12959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DIAGNÓSTICO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altLang="pt-BR" sz="4400" dirty="0"/>
              <a:t>A MedFácil Clínicas opera unidades de pronto atendimento em São Paulo. O diagnóstico identificou três problemas críticos: (1) filas longas com tempo médio de espera de 58,9 minutos — acima do benchmark de 30 min para UPAs eficientes; (2) alocação manual de médicos por turno sem suporte analítico, gerando sobrecarga nos picos e ociosidade nos vales; e (3) ausência total de KPIs e dashboards gerenciais. A análise do dataset histórico de 55.500 atendimentos (2019–2024) revelou distribuição uniforme entre os três turnos (~33% cada) e entre as seis especialidades médicas, confirmando a oportunidade de otimização via Pesquisa Operacional.</a:t>
            </a:r>
          </a:p>
          <a:p>
            <a:pPr>
              <a:buClrTx/>
              <a:buFontTx/>
              <a:buNone/>
            </a:pPr>
            <a:endParaRPr lang="pt-BR" altLang="pt-BR" sz="4400" dirty="0">
              <a:latin typeface="Times New Roman" panose="02020603050405020304" pitchFamily="18" charset="0"/>
            </a:endParaRPr>
          </a:p>
          <a:p>
            <a:pPr algn="just">
              <a:buClrTx/>
              <a:buFontTx/>
              <a:buNone/>
            </a:pPr>
            <a:endParaRPr lang="pt-BR" altLang="pt-BR" sz="4400" dirty="0">
              <a:latin typeface="Times New Roman" panose="02020603050405020304" pitchFamily="18" charset="0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1DD6B19F-1B54-E16E-A3B4-6D62C9B3A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5294" y="32924321"/>
            <a:ext cx="14492288" cy="4157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000" b="1" dirty="0"/>
              <a:t xml:space="preserve">DADOS DA EMPRESA PARCEIRA DO PROJETO </a:t>
            </a:r>
          </a:p>
          <a:p>
            <a:pPr>
              <a:buClrTx/>
              <a:buFontTx/>
              <a:buNone/>
            </a:pPr>
            <a:endParaRPr lang="pt-BR" altLang="pt-BR" sz="320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NOME DA EMPRESA: MedFácil Clínicas (empresa fictícia)</a:t>
            </a: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ENDEREÇO: São Paulo, SP – Campus Santo Amaro, Uninove</a:t>
            </a: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EMAIL: felipesantos@uni9.pro.br</a:t>
            </a: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SEGMENTO DA ATUAÇÃO: Saúde – Clínicas e Unidades de Pronto Atendimento (UPA)</a:t>
            </a:r>
          </a:p>
          <a:p>
            <a:pPr>
              <a:buClrTx/>
              <a:buFontTx/>
              <a:buNone/>
            </a:pPr>
            <a:endParaRPr lang="pt-BR" altLang="pt-BR" sz="240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endParaRPr lang="pt-BR" altLang="pt-BR" sz="2400" dirty="0">
              <a:cs typeface="Times New Roman" panose="02020603050405020304" pitchFamily="18" charset="0"/>
            </a:endParaRP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820D7143-8B20-110C-784D-0CEDE24B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819" y="5835221"/>
            <a:ext cx="13841413" cy="12959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OBJETIVO DO PROJETO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altLang="pt-BR" sz="4400" dirty="0"/>
              <a:t>Desenvolver um sistema computacional integrado, usando Python e IA, para otimizar a alocação de médicos por turno na MedFácil Clínicas. O sistema compreende: (1) pipeline ETL para extração, limpeza e transformação de 55.500 registros com anonimização LGPD via hash SHA-256; (2) Análise Exploratória de Dados com 3 KPIs e dashboard com 6 gráficos; (3) modelo de Programação Linear Inteira (PLI) com PuLP para minimização do custo de pessoal; e (4) documentação de Segurança da Informação com mapeamento LGPD, Matriz GUT e Política de Autenticação. O projeto integra quatro disciplinas: Análise de Dados, Pesquisa Operacional, Segurança da Informação e Gestão de Projetos.</a:t>
            </a:r>
          </a:p>
          <a:p>
            <a:pPr>
              <a:buClrTx/>
              <a:buFontTx/>
              <a:buNone/>
            </a:pPr>
            <a:endParaRPr lang="pt-BR" altLang="pt-BR" sz="4400" dirty="0">
              <a:latin typeface="Times New Roman" panose="02020603050405020304" pitchFamily="18" charset="0"/>
            </a:endParaRPr>
          </a:p>
          <a:p>
            <a:pPr algn="just">
              <a:buClrTx/>
              <a:buFontTx/>
              <a:buNone/>
            </a:pPr>
            <a:endParaRPr lang="pt-BR" altLang="pt-BR" sz="4400" dirty="0">
              <a:latin typeface="Times New Roman" panose="02020603050405020304" pitchFamily="18" charset="0"/>
            </a:endParaRP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F72B0911-45F1-7BD9-431D-EC409F4A1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4619" y="30195408"/>
            <a:ext cx="13841413" cy="6188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PROPOSTA DE MELHORIA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altLang="pt-BR" sz="4400" dirty="0"/>
              <a:t>O modelo PLI determina a alocação ótima: 2 médicos de manhã, 2 à tarde e 1 à noite (vs. 3/3/2 na alocação manual). Resultado: custo diário de R$ 6.240 vs. R$ 10.080 — economia de 38,1% (R$ 3.840/dia). Projeção anual: R$ 1.401.600 de economia. O modelo é robusto: a mesma alocação otimizada cobre inclusive o dia de maior demanda do histórico (cenário Pico), sem escalonamento emergencial. Repositório completo: github.com/robert-sampaio/medfacil</a:t>
            </a:r>
          </a:p>
          <a:p>
            <a:pPr algn="just">
              <a:buClrTx/>
              <a:buFontTx/>
              <a:buNone/>
            </a:pPr>
            <a:endParaRPr lang="pt-BR" altLang="pt-BR" sz="4400" dirty="0"/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3DC74583-4B44-E2DB-1FE7-E18271D3D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0382" y="5633608"/>
            <a:ext cx="13841412" cy="5511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COMUNIDADE IMPACTADA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altLang="pt-BR" sz="4400" dirty="0"/>
              <a:t>O projeto impacta diretamente pacientes, profissionais e gestores da MedFácil Clínicas. Para os pacientes, a redução do tempo de espera melhora a experiência e a qualidade do atendimento. Para os médicos, a alocação baseada em dados elimina sobrecarga em picos e ociosidade em vales, promovendo melhores condições de trabalho. Para a gestão, o dashboard com KPIs possibilita decisões estratégicas baseadas em dados. Indiretamente, o projeto demonstra que ferramentas open-source acessíveis (Python, PuLP, Pandas) geram impacto econômico e social relevante no contexto da saúde digital brasileira.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0041BD10-DD09-1296-7BBF-3B5622008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48944" y="20179871"/>
            <a:ext cx="13841413" cy="7542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RELATÓRIOS FINAL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altLang="pt-BR" sz="4400" dirty="0"/>
              <a:t>Artefatos entregues: (1) Análise de Dados — pipeline ETL (01_etl.py), EDA (02_eda.ipynb) e dashboard com 3 KPIs e 6 gráficos (03_kpis_dashboard.py); (2) Pesquisa Operacional — modelo PLI (modelo_pli.py) com 3 cenários — economia anual de R$ 1.401.600; (3) Segurança da Informação — mapeamento LGPD (15 colunas classificadas), Matriz GUT (10 riscos) e Política de Autenticação; (4) Gestão de Projetos — Project Charter, EAP, Gantt e Matriz RACI. Todos os artefatos disponíveis em: github.com/robert-sampaio/medfacil</a:t>
            </a:r>
          </a:p>
        </p:txBody>
      </p:sp>
    </p:spTree>
    <p:extLst>
      <p:ext uri="{BB962C8B-B14F-4D97-AF65-F5344CB8AC3E}">
        <p14:creationId xmlns:p14="http://schemas.microsoft.com/office/powerpoint/2010/main" val="662637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552</Words>
  <Application>Microsoft Office PowerPoint</Application>
  <PresentationFormat>Personalizar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Garamond</vt:lpstr>
      <vt:lpstr>Times New Roman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Adriano Miranda Vasconcellos de Jesus</dc:creator>
  <cp:lastModifiedBy>Lucimar Da Silva Itelvino</cp:lastModifiedBy>
  <cp:revision>7</cp:revision>
  <dcterms:created xsi:type="dcterms:W3CDTF">2024-08-21T12:22:29Z</dcterms:created>
  <dcterms:modified xsi:type="dcterms:W3CDTF">2024-08-21T13:34:44Z</dcterms:modified>
</cp:coreProperties>
</file>